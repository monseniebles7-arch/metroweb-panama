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9E4A2-BC14-45B5-A5AF-E80C3D7C4D67}" v="1" dt="2026-07-06T05:08:07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serrate Niebles" userId="98820f85dc5b759f" providerId="LiveId" clId="{2EB246E0-3E10-4C9B-881A-EE7A5EF4D474}"/>
    <pc:docChg chg="modSld">
      <pc:chgData name="Monserrate Niebles" userId="98820f85dc5b759f" providerId="LiveId" clId="{2EB246E0-3E10-4C9B-881A-EE7A5EF4D474}" dt="2026-07-06T05:08:38.430" v="19" actId="20577"/>
      <pc:docMkLst>
        <pc:docMk/>
      </pc:docMkLst>
      <pc:sldChg chg="addSp modSp mod">
        <pc:chgData name="Monserrate Niebles" userId="98820f85dc5b759f" providerId="LiveId" clId="{2EB246E0-3E10-4C9B-881A-EE7A5EF4D474}" dt="2026-07-06T05:08:12.404" v="3" actId="1076"/>
        <pc:sldMkLst>
          <pc:docMk/>
          <pc:sldMk cId="0" sldId="259"/>
        </pc:sldMkLst>
        <pc:picChg chg="add mod">
          <ac:chgData name="Monserrate Niebles" userId="98820f85dc5b759f" providerId="LiveId" clId="{2EB246E0-3E10-4C9B-881A-EE7A5EF4D474}" dt="2026-07-06T05:08:12.404" v="3" actId="1076"/>
          <ac:picMkLst>
            <pc:docMk/>
            <pc:sldMk cId="0" sldId="259"/>
            <ac:picMk id="8" creationId="{0B29F76A-E8B3-0969-AADF-E577EC65F782}"/>
          </ac:picMkLst>
        </pc:picChg>
      </pc:sldChg>
      <pc:sldChg chg="modSp mod">
        <pc:chgData name="Monserrate Niebles" userId="98820f85dc5b759f" providerId="LiveId" clId="{2EB246E0-3E10-4C9B-881A-EE7A5EF4D474}" dt="2026-07-06T05:08:38.430" v="19" actId="20577"/>
        <pc:sldMkLst>
          <pc:docMk/>
          <pc:sldMk cId="0" sldId="265"/>
        </pc:sldMkLst>
        <pc:spChg chg="mod">
          <ac:chgData name="Monserrate Niebles" userId="98820f85dc5b759f" providerId="LiveId" clId="{2EB246E0-3E10-4C9B-881A-EE7A5EF4D474}" dt="2026-07-06T05:08:38.430" v="19" actId="20577"/>
          <ac:spMkLst>
            <pc:docMk/>
            <pc:sldMk cId="0" sldId="265"/>
            <ac:spMk id="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303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E8610A">
              <a:alpha val="12000"/>
            </a:srgbClr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-1828800" y="4754880"/>
            <a:ext cx="4114800" cy="4114800"/>
          </a:xfrm>
          <a:prstGeom prst="ellipse">
            <a:avLst/>
          </a:prstGeom>
          <a:solidFill>
            <a:srgbClr val="1A3A6B">
              <a:alpha val="40000"/>
            </a:srgbClr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</a:t>
            </a:r>
            <a:r>
              <a:rPr lang="en-US" sz="2000" b="1" kern="0" spc="100" dirty="0">
                <a:solidFill>
                  <a:srgbClr val="E86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r>
              <a:rPr lang="en-US" sz="2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Panamá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PROGRAMACIÓN DE SOFTWARE 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MetroWeb Panamá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digital para la gestión y recarga de tarjetas del transporte público de Panamá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25400">
            <a:solidFill>
              <a:srgbClr val="E8610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Tecnológica de Panamá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en Sistemas Computacionales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en Ingeniería de Software  ·  Grupo 1SF134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Monserrate Niebles  ·  Gabriel Cedeño  ·  Roberto de Gracia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6446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Paulo Picota   |   I Semestre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98480" y="-822960"/>
            <a:ext cx="2926080" cy="2926080"/>
          </a:xfrm>
          <a:prstGeom prst="ellipse">
            <a:avLst/>
          </a:prstGeom>
          <a:solidFill>
            <a:srgbClr val="E8610A">
              <a:alpha val="10000"/>
            </a:srgbClr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12080" cy="5074920"/>
          </a:xfrm>
          <a:prstGeom prst="roundRect">
            <a:avLst>
              <a:gd name="adj" fmla="val 2162"/>
            </a:avLst>
          </a:prstGeom>
          <a:solidFill>
            <a:srgbClr val="EEF2F9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5" name="Text 3"/>
          <p:cNvSpPr/>
          <p:nvPr/>
        </p:nvSpPr>
        <p:spPr>
          <a:xfrm>
            <a:off x="96012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actual de gestión y recarga de tarjetas del Metro de Panamá depende de puntos físicos y procesos de validación manuales. La información está poco centralizada, dificultando la consulta de saldos, el historial de movimientos y la administración general del servicio.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4114800"/>
            <a:ext cx="4526280" cy="0"/>
          </a:xfrm>
          <a:prstGeom prst="line">
            <a:avLst/>
          </a:prstGeom>
          <a:noFill/>
          <a:ln w="12700">
            <a:solidFill>
              <a:srgbClr val="D8DBE2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8" name="Text 6"/>
          <p:cNvSpPr/>
          <p:nvPr/>
        </p:nvSpPr>
        <p:spPr>
          <a:xfrm>
            <a:off x="96012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47548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MetroWeb Panamá moderniza esta gestión mediante una plataforma web con actualización automática del saldo en tiempo real, eliminando la necesidad de puntos de validación físicos.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E2"/>
            </a:solidFill>
            <a:prstDash val="solid"/>
          </a:ln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6446520" y="1508760"/>
            <a:ext cx="502920" cy="50292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64465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visualizar tarjetas físicas y digitales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saldos y realizar recargas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historial de movimientos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79476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DBE2"/>
            </a:solidFill>
            <a:prstDash val="solid"/>
          </a:ln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rgbClr val="E8610A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6446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4069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466344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usuarios y tarjetas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flujo de pasajeros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610A"/>
                </a:solidFill>
              </a:rPr>
              <a:t>01</a:t>
            </a:r>
            <a:endParaRPr lang="en-US" sz="13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del sitio web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navegación general de MetroWeb Panamá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F4C54A-1A42-8F35-E97D-754B58542B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080" y="1816100"/>
            <a:ext cx="11734274" cy="39903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8610A"/>
                </a:solidFill>
              </a:rPr>
              <a:t>02</a:t>
            </a:r>
            <a:endParaRPr lang="en-US" sz="13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la base de datos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relacional: Usuario, Rol, Tarjeta, TipoTarjeta, EstadoTarjeta, Recarga, Viaje...</a:t>
            </a:r>
            <a:endParaRPr lang="en-US" sz="13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B29F76A-E8B3-0969-AADF-E577EC65F7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021" y="1531620"/>
            <a:ext cx="7533958" cy="5100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Listado de archivos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y componentes compartidos (header / footer)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070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424281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Style.css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Centraliza la identidad visual: paleta de colores, tipografías, tablas, formularios y responsividad.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Menú privado del cliente. Resalta la página activa según la URI e integra accesos a saldo, recargas e historial.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Header_admin.jsp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Cabecera del entorno administrativo con enlaces exclusivos a Usuarios y Tarjetas.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Header_home.jsp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 pública simplificada para visitantes que no han iniciado sesión.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de página privado del cliente, con navegación a Inicio, Perfil, Recarga y Cerrar Sesión.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Footer_admin.jsp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del panel administrativo con badge de "Modo Seguro" y enlaces de gestión.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Footer_home.jsp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de página público con accesos a Iniciar Sesión, Registrarse y Recuperar Contraseña.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Listado de archivos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del usuario (cliente)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070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53035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de bienvenida. Autentica con BCrypt y redirige según el rol asignado.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 de cuentas: valida correo único y hashea la contraseña antes de insertar al Usuario.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Usuario_inicio.jsp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Tablero principal: renderiza las tarjetas del cliente en una rejilla con color según su tipo.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Panel financiero con filtro por tarjeta y resumen de gastos/recargas del último trimestre.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Recarga_tarjetas.jsp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de recarga con transacción segura (setAutoCommit) sobre tarjeta y recarga.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Edición de nombre, apellido y contraseña opcional; el correo queda bloqueado.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Historial_viajes.jsp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de trayectos por tarjeta y rango de días (7, 15 o 30).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Editar_datos_tarjeta.jsp / Agregar-tarjeta.jsp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(editar/eliminar) y vinculación de tarjetas propias.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Nosotros / Nosotros_home / Nosotros_admin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institucional adaptada según el tipo de visitante.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Listado de archivos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070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881360" cy="371246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Admin_inicio.jsp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 globales, gráficas CSS de tarjetas por estado/tipo y monitor de flujo de pasajeros.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Agregar_tarjeta_admin.jsp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y edición administrativa de tarjetas, vinculándolas por el correo del propietario.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Gestion_usuarios.jsp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Listado con búsqueda (LIKE) y eliminación (DELETE) de cuentas mediante modal de confirmación.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Tarjetas_admin.jsp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multitabla (INNER JOIN) y baja de tarjetas del sistema.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Usuario_admin.jsp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Edición de una cuenta específica; actualiza el hash solo si se ingresó una nueva contraseña.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Logout.jsp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Invalida la sesión activa y redirige a la página de inicio.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y dificultades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bajo presión temporal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070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2F9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914400" y="1673352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5270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de la página sin conexión a la base de datos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91640" y="18928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se avanzó con código básico enfocado en el diseño y la estructura, usando datos de prueba temporales, integrando progresivamente las funcionalidades reales una vez la base de datos estuvo lista.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DF0E8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914400" y="3273552"/>
            <a:ext cx="548640" cy="548640"/>
          </a:xfrm>
          <a:prstGeom prst="ellipse">
            <a:avLst/>
          </a:prstGeom>
          <a:solidFill>
            <a:srgbClr val="E8610A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91440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1272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limitado de dos semanas para el desarrollo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91640" y="34930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trabajo en equipo, coordinación constante y reparto claro de tareas, avanzando en distintos frentes de manera simultánea para cumplir el plazo.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2F9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914400" y="4873752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91440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7274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equipo a distancia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91640" y="50932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uso de GitHub para guardar el código en la nube, mantener un historial ordenado de cambios y rastrear errores rápidamente.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Retos y dificultades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errores técnicos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60704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2F9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6" name="Shape 4"/>
          <p:cNvSpPr/>
          <p:nvPr/>
        </p:nvSpPr>
        <p:spPr>
          <a:xfrm>
            <a:off x="914400" y="1673352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7" name="Text 5"/>
          <p:cNvSpPr/>
          <p:nvPr/>
        </p:nvSpPr>
        <p:spPr>
          <a:xfrm>
            <a:off x="91440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15270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en equipo a distancia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91640" y="18928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creación de un chat de grupo y reuniones por Discord para mejorar la coordinación y organización.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DF0E8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1" name="Shape 9"/>
          <p:cNvSpPr/>
          <p:nvPr/>
        </p:nvSpPr>
        <p:spPr>
          <a:xfrm>
            <a:off x="914400" y="3273552"/>
            <a:ext cx="548640" cy="548640"/>
          </a:xfrm>
          <a:prstGeom prst="ellipse">
            <a:avLst/>
          </a:prstGeom>
          <a:solidFill>
            <a:srgbClr val="E8610A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2" name="Text 10"/>
          <p:cNvSpPr/>
          <p:nvPr/>
        </p:nvSpPr>
        <p:spPr>
          <a:xfrm>
            <a:off x="91440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1272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de conexión HTTP 404 – Not Found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91640" y="34930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se identificó que había que incluir el contexto del proyecto en la URL y verificar que la aplicación estuviera correctamente desplegada en Tomcat.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2F9"/>
          </a:solidFill>
          <a:ln/>
          <a:effectLst>
            <a:outerShdw blurRad="101600" dist="38100" dir="5400000" algn="bl" rotWithShape="0">
              <a:srgbClr val="1A3A6B">
                <a:alpha val="12000"/>
              </a:srgbClr>
            </a:outerShdw>
          </a:effectLst>
        </p:spPr>
        <p:txBody>
          <a:bodyPr/>
          <a:lstStyle/>
          <a:p>
            <a:endParaRPr lang="es-PA"/>
          </a:p>
        </p:txBody>
      </p:sp>
      <p:sp>
        <p:nvSpPr>
          <p:cNvPr id="16" name="Shape 14"/>
          <p:cNvSpPr/>
          <p:nvPr/>
        </p:nvSpPr>
        <p:spPr>
          <a:xfrm>
            <a:off x="914400" y="4873752"/>
            <a:ext cx="548640" cy="548640"/>
          </a:xfrm>
          <a:prstGeom prst="ellipse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17" name="Text 15"/>
          <p:cNvSpPr/>
          <p:nvPr/>
        </p:nvSpPr>
        <p:spPr>
          <a:xfrm>
            <a:off x="914400" y="4873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7274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HTTP 500 en la página principal (JasperException / JSTL)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91640" y="509320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se corrigió la URI de la librería para Tomcat 9 y se instaló manualmente jstl-1.2.jar en WEB-INF/lib.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1A3A6B">
              <a:alpha val="45000"/>
            </a:srgbClr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3" name="Shape 1"/>
          <p:cNvSpPr/>
          <p:nvPr/>
        </p:nvSpPr>
        <p:spPr>
          <a:xfrm>
            <a:off x="9966960" y="4389120"/>
            <a:ext cx="5029200" cy="5029200"/>
          </a:xfrm>
          <a:prstGeom prst="ellipse">
            <a:avLst/>
          </a:prstGeom>
          <a:solidFill>
            <a:srgbClr val="E8610A">
              <a:alpha val="15000"/>
            </a:srgbClr>
          </a:solidFill>
          <a:ln/>
        </p:spPr>
        <p:txBody>
          <a:bodyPr/>
          <a:lstStyle/>
          <a:p>
            <a:endParaRPr lang="es-PA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2377440" cy="0"/>
          </a:xfrm>
          <a:prstGeom prst="line">
            <a:avLst/>
          </a:prstGeom>
          <a:noFill/>
          <a:ln w="25400">
            <a:solidFill>
              <a:srgbClr val="E8610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MetroWeb Panamá centraliza la información y automatiza la actualización de saldos en tiempo real, eliminando la dependencia de puntos físicos y procesos de validación tediosos.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perfiles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y Administrador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plataforma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79476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real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9476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0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nativo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y lógica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construidas desde cero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132A4E"/>
          </a:solidFill>
          <a:ln w="12700">
            <a:solidFill>
              <a:srgbClr val="E8610A"/>
            </a:solidFill>
            <a:prstDash val="solid"/>
          </a:ln>
        </p:spPr>
        <p:txBody>
          <a:bodyPr/>
          <a:lstStyle/>
          <a:p>
            <a:endParaRPr lang="es-PA"/>
          </a:p>
        </p:txBody>
      </p:sp>
      <p:sp>
        <p:nvSpPr>
          <p:cNvPr id="14" name="Text 12"/>
          <p:cNvSpPr/>
          <p:nvPr/>
        </p:nvSpPr>
        <p:spPr>
          <a:xfrm>
            <a:off x="1051560" y="4800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reto técnico y operativo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5166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normalizar y desplegar una arquitectura de persistencia e interconexión propia —sin reutilizar plantillas ni infraestructuras heredadas— logrando estabilidad en tiempo récord: esquema relacional desde cero, controladores Java, interceptores de sesión y encriptación segura, entregando una plataforma robusta, segura y escalable.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1039</Words>
  <Application>Microsoft Office PowerPoint</Application>
  <PresentationFormat>Panorámica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MetroWeb Panamá</dc:title>
  <dc:subject>PptxGenJS Presentation</dc:subject>
  <dc:creator>Monserrate Niebles, Gabriel Cedeño, Roberto de Gracia</dc:creator>
  <cp:lastModifiedBy>Monserrate Niebles</cp:lastModifiedBy>
  <cp:revision>2</cp:revision>
  <dcterms:created xsi:type="dcterms:W3CDTF">2026-07-06T05:01:53Z</dcterms:created>
  <dcterms:modified xsi:type="dcterms:W3CDTF">2026-07-06T05:08:44Z</dcterms:modified>
</cp:coreProperties>
</file>